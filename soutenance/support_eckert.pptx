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présenter en 20 s. Annoncer : obligation Eckert, plateforme data conçue et opérée, périmètre honnête. 45 min + 15 min de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l'enjeu réglementaire en 30 s : une mutuelle doit rechercher ses assurés décédés et reverser les capitaux non réclamés, sous peine de sanction.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 d'honnêteté, à dire clairement : ce n'est pas le SI de l'entreprise. Le fichier décès est la vraie donnée publique, le référentiel est synthétique.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Ancrer la légitimité : j'ai vécu l'ingestion Eckert et l'incident que je rejouerai.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volumétrie annoncée ici servira à justifier Spark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Traduire loi → besoin technique (B1 à B6 du livrable).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L'enjeu n°3 (résilience) a provoqué l'incident réel et justifie l'architecture de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contraintes expliquent les choix techniques du livrable suivant.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Distinguer étudié / maquetté / en production. Les 4 trous sont la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 schéma d'architecture. Chaque brique répond à un besoin de C4.1.1.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survendre : chaque avantage a sa contrepartie, assumée.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Résultat d'un choix délibéré, pas d'un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jury attend une méthode + des hypothèses, pas un devis exact. Le lock-in se traite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Matériau direct de la question de jury sur le lock-in et le non-retenu.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séparation des couches = colonne vertébrale de la sécurité et de la qualité.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conception sensible : sans cette cohérence, le rapprochement rate les noms accentués.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fort réel : la sécurité est prouvée par des tests, pas seulement affirmée.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la capture de la vue lue par elt_reader.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les trois. La grille exige les trois, dont le distribué.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Nommage assumé : à l'arrivée d'un fichier, pas de Kafka (source mensuelle).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la capture du DAG vert. Brique héritée du vécu, reconstruite proprement.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piège anticipée : reconnaître que Postgres suffirait au mois, justifier par la trajectoire.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 d'identifiant national → rapprochement probabiliste → graduation nécessaire.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la Spark UI (application FINISHED) et les chiffres gold.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Déploiement 100 % manuel à l'origine : ce pipeline est neuf.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l'onglet Actions. Assumer : le 1er run rouge (garde-fous qui mordent).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Déploiement d'artefact au sens propre. Limite honnête : pas de mise en service auto sur cluster 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supervision réutilise l'orchestrateur (choix de légèreté assumé).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l'Event Log (retry visible) + la preuve d'alerte délivrée.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calendaire. La dérive du taux de rejet = signal précoce d'un changement de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procédure a été validée dans les faits : c'est ainsi que la plateforme a été montée.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live possible : lancer pytest (&lt; 1 s, 19 verts). La sécurité testée est souvent le trou des dossiers.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MOMENT FORT. Raconter : 2 mois nominal, puis échec quotidien, cause non triviale.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live possible : le rejeu avant/après en &lt; 1 s. Une ligne de code change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Assumer les limites plutôt que les masquer : marque de maturité d'ingénieur.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sur une note d'ingénieur : lucidité sur les prochaines étapes.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si le jury creuse l'entrepôt.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sur une question de coût ou de lock-in.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sur une question CI/CD ou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300000"/>
            <a:ext cx="108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Plateforme ELT Eckert — détection des contrats en déshérence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Bloc 4 — Spécialité Data Engineer — RNCP 39586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Une obligation légale : identifier les adhérents décédés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Loi Eckert : contrats non réglés au décès du souscripteur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Risque de sanction ACPR + enjeu de restitution aux ayants droit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Source de vérité : fichier des décès de l'INSEE (data.gouv.fr)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Ce que je présente : une plateforme reconstruite sur un contexte réel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Contexte métier réel (alternance Prévifrance)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Plateforme entièrement RECONSTRUITE pour ce dossier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Fichier INSEE réel + référentiel adhérents synthétique (Faker)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Aucune donnée d'entreprise ni personnelle réelle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Mon rôle : de l'ingestion Eckert en production à l'incident vécu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Chargé d'étude Data / AMOA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Traitement de collecte Eckert orchestré (Airflow) en production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Étude d'architecture cible Snowflake menée puis non retenue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La donnée qui justifie tout : des dizaines de millions de décès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Fichier INSEE à largeur fixe (176 caractères)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Publication mensuelle + fichiers annuels historiques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Volumétrie cumulée : dizaines de M de lignes → justifie le distribué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6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Analyser l'environnement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C4.1.1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Le besoin : transformer une obligation en donnée actionnable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Ingérer la source de vérité (INSEE)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Rapprocher décès × portefeuille d'adhérents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Produire une liste priorisée, fiable et tracée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Rythme mensuel, valeur réglementaire → traçabilité non négociable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L'enjeu structurant : ne pas dépendre d'une source non maîtrisée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Conformité, fiabilité de la détection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Résilience aux sources externes (← l'incident)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RGPD : cloisonnement, aucune donnée réelle hors périmètre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Trois contraintes qui cadrent toute la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Coût nul : rien de managé, tout en local conteneurisé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Délai &lt; 1 mois : chaque brique démontrable en 5 min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Complexité : volumétrie + source non contractuelle + pas d'ID pivot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L'existant et les quatre trous à combler en priorité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Existant : SQL Server, SSRS, un traitement Eckert sous Airflow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Trous sans matériau : Spark, CI/CD, alerting, tests de sécurité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C'est précisément ce que le Bloc 4 demande de produire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6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Sélectionner les composants et chiffrer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C4.1.2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Une architecture locale, portable, sans réécriture pour le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Airflow · PostgreSQL · MinIO (S3) · Spark · GitHub Actions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Principe : interfaces standard (S3, SQL, PySpark)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Open source, local, démontrable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Chaque composant : un avantage attendu, un point de vigilance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Postgres : rôles + index + schémas par couche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MinIO : versionne le brut, prépare le cloud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Spark : distribué justifié par la donnée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Vigilance : mémoire du Compose, scale horizontal de Postgres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Le vendor lock-in est traité par des interfaces standard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S3 → AWS/Azure/GCS ; SQL → Azure SQL/Aurora ; PySpark → Databricks/EMR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Point le plus propriétaire : le YAML GitHub Actions (réécriture marginale)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Réversibilité voulue par conception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Trois scénarios de coût, avec hypothèses explicites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Local (retenu) : ~ coût du temps humain seul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Cloud Azure : ~ 50 à 145 € / mois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SaaS Snowflake/Fabric : ~ 80 à 250 € / mois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Hypothèses : ~60k décès/mois, ~25 M cumulés, 1 run/mois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Pourquoi le SaaS n'a pas été retenu (décision réelle, année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Coût récurrent injustifié sur un besoin mensuel faible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Souveraineté des données de santé/identité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Maturité des équipes sur l'existant + pas de gain décisif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Décision collégiale (équipe data + DBA)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6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Concevoir l'entrepôt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C4.2.1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Quatre couches, une responsabilité et un niveau d'accès chacune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bronze : source brute tracée ; silver : typé, dédoublonné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gold : résultat métier ; ops : journal &amp; qualité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Le métier ne voit jamais le brut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La clé de rapprochement, normalisée à l'identique SQL et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Clé : nom | premier prénom | date de naissance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Normalisation identique des deux côtés (accents, casse, non-alpha)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C'est ce qui fait fonctionner le rapprochement sur noms composés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Deux rôles, moindre privilège — et c'est TESTÉ, pas déclaré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elt_writer écrit ; elt_reader lit gold seulement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reader → INSERT gold = refusé ; reader → SELECT bronze = refusé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Tests SEC-02/03 verts contre la base réelle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Le métier consomme une vue priorisée, en lecture seule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gold.v_contrats_a_instruire : colonne priorité prête à l'emploi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CERTAIN d'abord, puis décès anciens, puis gros capitaux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Même point de branchement pour un outil BI (Metabase)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6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Les trois pipelines, dont le distribué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C4.2.2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Trois méthodes, trois régimes de traitement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Fil de l'eau (SQL) : typage, nettoyage, déduplication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Orchestration (Airflow) : enchaîne et fiabilise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Distribué (Spark) : absorbe le volume du rapprochement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Fil de l'eau : le nettoyage vit dans le moteur, pas dans l'appli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Découpage largeur fixe + typage + dédup en une requête SQL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DISTINCT ON (clé naturelle), ON CONFLICT DO NOTHING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Traitement au fil de l'eau, PAS du streaming permanent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Orchestration : le DAG Airflow fiabilise la chaîne réelle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4 tâches, planification mensuelle, retries backoff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SLA 30 min + callbacks (échec / SLA)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Exécution réelle sur le vrai fichier INSEE : tout vert</a:t>
            </a:r>
          </a:p>
        </p:txBody>
      </p:sp>
      <p:pic>
        <p:nvPicPr>
          <p:cNvPr id="5" name="Picture 4" descr="C4-2-2_airflow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00" y="2900000"/>
            <a:ext cx="9800000" cy="288175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Distribué : Spark parce que la DONNÉE l'exige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Rapprochement décès × contrats sur cluster (master + worker)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Justifié par la volumétrie cumulée, pas par la grille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Sur le volume mensuel seul, Postgres suffirait (assumé)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Le rapprochement gradue la confiance en trois niveaux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CERTAIN : clé + sexe + lieu concordants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PROBABLE : clé exacte seule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A_VERIFIER : homonymie (levée humaine)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Résultat : 4 162 contrats détectés, 88 M€ en niveau CERTAIN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CERTAIN : 2 846 contrats (88,1 M€)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PROBABLE : 1 259 (38,4 M€) — A_VERIFIER : 57 (2,0 M€)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Écrit dans gold, application Spark FINISHED</a:t>
            </a:r>
          </a:p>
        </p:txBody>
      </p:sp>
      <p:pic>
        <p:nvPicPr>
          <p:cNvPr id="5" name="Picture 4" descr="C4-2-2_spark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00" y="2900000"/>
            <a:ext cx="9800000" cy="406204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6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Industrialiser :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C4.2.3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Un pipeline CI/CD construit de zéro, cinq étages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Qualité (ruff) · Tests (pytest) · Sécurité (pip-audit)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Validation des DAG Airflow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Déploiement de l'image applicative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Exécution réelle : les cinq jobs au vert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Déclenché à chaque push sur main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Rapport de tests + couverture archivés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Rouge = pas de fusion</a:t>
            </a:r>
          </a:p>
        </p:txBody>
      </p:sp>
      <p:pic>
        <p:nvPicPr>
          <p:cNvPr id="5" name="Picture 4" descr="C4-2-3_ci_run_v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00" y="2900000"/>
            <a:ext cx="9800000" cy="442992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Déploiement réel : l'image est publiée sur un registre (GHCR)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build → push ghcr.io/ratpigene/eckert-elt → pull + smoke test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Authentifié par le token intégré, aucun secret externe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Image récupérable par tout consommateur (docker pull)</a:t>
            </a:r>
          </a:p>
        </p:txBody>
      </p:sp>
      <p:pic>
        <p:nvPicPr>
          <p:cNvPr id="5" name="Picture 4" descr="C4-2-3_deploiement_gh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00" y="2900000"/>
            <a:ext cx="9800000" cy="54774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6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Exploiter : supervision, MCO,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C4.3.1 · C4.3.2 · C4.3.3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Supervision : ce qui est surveillé et ses seuils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Statut de tâche, durée/SLA, taux de rejet, volumétrie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Seuils explicites et centralisés (taux de rejet 2 %, min 1000 lignes)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Journal ops = mémoire historisée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Alertes : trois canaux, une escalade — et réellement délivrées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Journal ops → webhook (échec) → courriel (SLA)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Alerte reçue : titre + corps + destinataire capturés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A5A5A"/>
                </a:solidFill>
                <a:latin typeface="Calibri"/>
              </a:rPr>
              <a:t>•  Panne à 3 h : notification immédiate + reprise (Clear)</a:t>
            </a:r>
          </a:p>
        </p:txBody>
      </p:sp>
      <p:pic>
        <p:nvPicPr>
          <p:cNvPr id="5" name="Picture 4" descr="C4-3-1_airflow_event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00" y="2900000"/>
            <a:ext cx="9800000" cy="311167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Exploitation : un calendrier de MCO, secrets et certificats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Cycle mensuel / trimestriel / semestriel / annuel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Rotation des secrets (trim.), certificats TLS (sem.)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Point de vigilance n°1 : dérive du taux de rejet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Documentation : un successeur reprend sans moi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Public + objectif énoncés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Procédure de configuration depuis zéro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Runbook : DAG en échec, Spark, rotation, reset propre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6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Qualité et résilience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C4.4.1 · C4.4.2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Un cahier de recette automatisé, rejoué à chaque push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19 tests : fonctionnels, structurels ET sécurité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Droits, secrets, dépendances testés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Ce n'est pas un instantané, c'est un filet permanent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L'incident réel : la confiance aveugle dans les métadonnées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La V1 validait sur les métadonnées DÉCLARÉES (taille, empreinte)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Le producteur cesse de les publier → rejet systématique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Fichiers pourtant parfaitement exploitables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Le correctif et le rejeu vert : valider le CONTENU, pas la promesse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Métadonnées → alerte ; contenu → seule source de vérité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Fichier sain sans métadonnées : CONFORME + alerte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Fichier corrompu : toujours bloqué. Test de non-régression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6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Bilan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Synthèse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Ce qui tourne, ce que j'assume comme limite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Bilan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Chaîne complète prouvée : ingestion → Spark → gold → restitution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Sécurité testée, CI verte, incident rejoué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Limites assumées : Postgres unique, Spark soumis manuellement, pas de supervision infra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Ce que je referais autrement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Bilan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Outiller le déclenchement Spark par Airflow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Ajouter une supervision d'infrastructure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Exposer un environnement de recette pour un déploiement complet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00000" y="26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Annexes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39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ECF0"/>
                </a:solidFill>
                <a:latin typeface="Calibri"/>
              </a:rPr>
              <a:t>Pour les questions du jury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A1 — Schéma détaillé des tables et rôles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4 schémas, 6 tables, 2 rôles, 1 vue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Preuve : C4-2-1_schema_postgres.txt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A2 — Tableau de coûts détaillé (3 scénarios)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Hypothèses de volumétrie explicites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Comparatif local / Azure / SaaS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9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D66"/>
                </a:solidFill>
                <a:latin typeface="Calibri"/>
              </a:rPr>
              <a:t>A3 — Workflow CI/CD complet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00000" cy="500000"/>
          </a:xfrm>
          <a:prstGeom prst="rect">
            <a:avLst/>
          </a:prstGeom>
          <a:solidFill>
            <a:srgbClr val="C0392B"/>
          </a:solidFill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0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.github/workflows/ci.yml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5A5A5A"/>
                </a:solidFill>
                <a:latin typeface="Calibri"/>
              </a:rPr>
              <a:t>•  5 jobs, déploiement GHCR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