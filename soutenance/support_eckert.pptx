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22844" autoAdjust="0"/>
  </p:normalViewPr>
  <p:slideViewPr>
    <p:cSldViewPr snapToGrid="0" snapToObjects="1">
      <p:cViewPr varScale="1">
        <p:scale>
          <a:sx n="18" d="100"/>
          <a:sy n="18" d="100"/>
        </p:scale>
        <p:origin x="2512" y="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47292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 dirty="0"/>
              <a:t>=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3D66"/>
          </a:solidFill>
          <a:ln>
            <a:noFill/>
          </a:ln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00000" y="2300000"/>
            <a:ext cx="108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dirty="0" err="1">
                <a:solidFill>
                  <a:srgbClr val="FFFFFF"/>
                </a:solidFill>
                <a:latin typeface="Calibri"/>
              </a:rPr>
              <a:t>Plateforme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ELT Eckert — 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détecter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les 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contrats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en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déshérence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96000" y="3900000"/>
            <a:ext cx="1080000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dirty="0">
                <a:solidFill>
                  <a:srgbClr val="E8ECF0"/>
                </a:solidFill>
                <a:latin typeface="Calibri"/>
              </a:rPr>
              <a:t>Bloc 4 · Spécialité Data Engineer · RNCP 39586</a:t>
            </a:r>
            <a:endParaRPr lang="fr-FR" sz="2200" b="0" dirty="0">
              <a:solidFill>
                <a:srgbClr val="E8ECF0"/>
              </a:solidFill>
              <a:latin typeface="Calibri"/>
            </a:endParaRPr>
          </a:p>
          <a:p>
            <a:pPr algn="l"/>
            <a:endParaRPr lang="fr-FR" sz="2200" dirty="0">
              <a:solidFill>
                <a:srgbClr val="E8ECF0"/>
              </a:solidFill>
              <a:latin typeface="Calibri"/>
            </a:endParaRPr>
          </a:p>
          <a:p>
            <a:pPr algn="l"/>
            <a:endParaRPr lang="fr-FR" sz="2200" b="0" dirty="0">
              <a:solidFill>
                <a:srgbClr val="E8ECF0"/>
              </a:solidFill>
              <a:latin typeface="Calibri"/>
            </a:endParaRPr>
          </a:p>
          <a:p>
            <a:pPr algn="l"/>
            <a:endParaRPr lang="fr-FR" sz="2200" dirty="0">
              <a:solidFill>
                <a:srgbClr val="E8ECF0"/>
              </a:solidFill>
              <a:latin typeface="Calibri"/>
            </a:endParaRPr>
          </a:p>
          <a:p>
            <a:pPr algn="l"/>
            <a:endParaRPr lang="fr-FR" sz="2200" b="0" dirty="0">
              <a:solidFill>
                <a:srgbClr val="E8ECF0"/>
              </a:solidFill>
              <a:latin typeface="Calibri"/>
            </a:endParaRPr>
          </a:p>
          <a:p>
            <a:pPr algn="l"/>
            <a:endParaRPr lang="fr-FR" sz="2200" dirty="0">
              <a:solidFill>
                <a:srgbClr val="E8ECF0"/>
              </a:solidFill>
              <a:latin typeface="Calibri"/>
            </a:endParaRPr>
          </a:p>
          <a:p>
            <a:pPr algn="l"/>
            <a:endParaRPr lang="fr-FR" sz="2200" b="0" dirty="0">
              <a:solidFill>
                <a:srgbClr val="E8ECF0"/>
              </a:solidFill>
              <a:latin typeface="Calibri"/>
            </a:endParaRPr>
          </a:p>
          <a:p>
            <a:pPr algn="l"/>
            <a:r>
              <a:rPr lang="fr-FR" sz="1600" b="0" dirty="0">
                <a:solidFill>
                  <a:srgbClr val="E8ECF0"/>
                </a:solidFill>
                <a:latin typeface="Calibri"/>
              </a:rPr>
              <a:t>Emmanuel Jovanovic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Une obligation légale : identifier les adhérents décédés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Loi Eckert : traiter les contrats non réglés au décès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Risque de sanction ACPR + restitution aux ayants droit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Source de vérité : fichier des décès de l'INSEE (data.gouv.fr)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dirty="0">
                <a:solidFill>
                  <a:srgbClr val="0B3D66"/>
                </a:solidFill>
                <a:latin typeface="Calibri"/>
              </a:rPr>
              <a:t>Une </a:t>
            </a:r>
            <a:r>
              <a:rPr sz="2900" b="1" dirty="0" err="1">
                <a:solidFill>
                  <a:srgbClr val="0B3D66"/>
                </a:solidFill>
                <a:latin typeface="Calibri"/>
              </a:rPr>
              <a:t>plateforme</a:t>
            </a:r>
            <a:r>
              <a:rPr sz="2900" b="1" dirty="0">
                <a:solidFill>
                  <a:srgbClr val="0B3D66"/>
                </a:solidFill>
                <a:latin typeface="Calibri"/>
              </a:rPr>
              <a:t> </a:t>
            </a:r>
            <a:r>
              <a:rPr sz="2900" b="1" dirty="0" err="1">
                <a:solidFill>
                  <a:srgbClr val="0B3D66"/>
                </a:solidFill>
                <a:latin typeface="Calibri"/>
              </a:rPr>
              <a:t>reconstruite</a:t>
            </a:r>
            <a:r>
              <a:rPr sz="2900" b="1" dirty="0">
                <a:solidFill>
                  <a:srgbClr val="0B3D66"/>
                </a:solidFill>
                <a:latin typeface="Calibri"/>
              </a:rPr>
              <a:t> sur un </a:t>
            </a:r>
            <a:r>
              <a:rPr sz="2900" b="1" dirty="0" err="1">
                <a:solidFill>
                  <a:srgbClr val="0B3D66"/>
                </a:solidFill>
                <a:latin typeface="Calibri"/>
              </a:rPr>
              <a:t>contexte</a:t>
            </a:r>
            <a:r>
              <a:rPr sz="2900" b="1" dirty="0">
                <a:solidFill>
                  <a:srgbClr val="0B3D66"/>
                </a:solidFill>
                <a:latin typeface="Calibri"/>
              </a:rPr>
              <a:t> </a:t>
            </a:r>
            <a:r>
              <a:rPr sz="2900" b="1" dirty="0" err="1">
                <a:solidFill>
                  <a:srgbClr val="0B3D66"/>
                </a:solidFill>
                <a:latin typeface="Calibri"/>
              </a:rPr>
              <a:t>réel</a:t>
            </a:r>
            <a:r>
              <a:rPr lang="fr-FR" sz="2900" b="1" dirty="0">
                <a:solidFill>
                  <a:srgbClr val="0B3D66"/>
                </a:solidFill>
                <a:latin typeface="Calibri"/>
              </a:rPr>
              <a:t>,</a:t>
            </a:r>
            <a:r>
              <a:rPr sz="2900" b="1" dirty="0">
                <a:solidFill>
                  <a:srgbClr val="0B3D66"/>
                </a:solidFill>
                <a:latin typeface="Calibri"/>
              </a:rPr>
              <a:t> </a:t>
            </a:r>
            <a:r>
              <a:rPr sz="2900" b="1" dirty="0" err="1">
                <a:solidFill>
                  <a:srgbClr val="0B3D66"/>
                </a:solidFill>
                <a:latin typeface="Calibri"/>
              </a:rPr>
              <a:t>mon</a:t>
            </a:r>
            <a:r>
              <a:rPr sz="2900" b="1" dirty="0">
                <a:solidFill>
                  <a:srgbClr val="0B3D66"/>
                </a:solidFill>
                <a:latin typeface="Calibri"/>
              </a:rPr>
              <a:t> </a:t>
            </a:r>
            <a:r>
              <a:rPr sz="2900" b="1" dirty="0" err="1">
                <a:solidFill>
                  <a:srgbClr val="0B3D66"/>
                </a:solidFill>
                <a:latin typeface="Calibri"/>
              </a:rPr>
              <a:t>rôle</a:t>
            </a:r>
            <a:r>
              <a:rPr lang="fr-FR" sz="2900" b="1" dirty="0">
                <a:solidFill>
                  <a:srgbClr val="0B3D66"/>
                </a:solidFill>
                <a:latin typeface="Calibri"/>
              </a:rPr>
              <a:t> dans le projet</a:t>
            </a:r>
            <a:endParaRPr sz="2900" b="1" dirty="0">
              <a:solidFill>
                <a:srgbClr val="0B3D66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6292"/>
            <a:ext cx="11000000" cy="1769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dirty="0">
                <a:solidFill>
                  <a:srgbClr val="404040"/>
                </a:solidFill>
                <a:latin typeface="Calibri"/>
              </a:rPr>
              <a:t>• 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Contexte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métier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réel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vécu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en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alternance (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Prévifrance</a:t>
            </a:r>
            <a:r>
              <a:rPr sz="2100" dirty="0">
                <a:solidFill>
                  <a:srgbClr val="404040"/>
                </a:solidFill>
                <a:latin typeface="Calibri"/>
              </a:rPr>
              <a:t>)</a:t>
            </a:r>
          </a:p>
          <a:p>
            <a:pPr>
              <a:spcAft>
                <a:spcPts val="1000"/>
              </a:spcAft>
            </a:pPr>
            <a:r>
              <a:rPr sz="2100" dirty="0">
                <a:solidFill>
                  <a:srgbClr val="404040"/>
                </a:solidFill>
                <a:latin typeface="Calibri"/>
              </a:rPr>
              <a:t>• 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Plateforme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entièrement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</a:t>
            </a:r>
            <a:r>
              <a:rPr lang="fr-FR" sz="2100" dirty="0">
                <a:solidFill>
                  <a:srgbClr val="404040"/>
                </a:solidFill>
                <a:latin typeface="Calibri"/>
              </a:rPr>
              <a:t>reconstruire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pour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ce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dossier</a:t>
            </a:r>
          </a:p>
          <a:p>
            <a:pPr>
              <a:spcAft>
                <a:spcPts val="1000"/>
              </a:spcAft>
            </a:pPr>
            <a:r>
              <a:rPr sz="2100" dirty="0">
                <a:solidFill>
                  <a:srgbClr val="404040"/>
                </a:solidFill>
                <a:latin typeface="Calibri"/>
              </a:rPr>
              <a:t>• 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Fichier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INSEE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réel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·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référentiel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adhérents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synthétique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(Faker)</a:t>
            </a:r>
          </a:p>
          <a:p>
            <a:pPr>
              <a:spcAft>
                <a:spcPts val="1000"/>
              </a:spcAft>
            </a:pPr>
            <a:r>
              <a:rPr sz="2100" dirty="0">
                <a:solidFill>
                  <a:srgbClr val="404040"/>
                </a:solidFill>
                <a:latin typeface="Calibri"/>
              </a:rPr>
              <a:t>• 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J'ai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vécu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en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production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l'ingestion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Eckert et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l'incident</a:t>
            </a:r>
            <a:endParaRPr sz="2100" dirty="0">
              <a:solidFill>
                <a:srgbClr val="40404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Analyse : besoins, contraintes, et les quatre trous à combler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Besoin : une donnée actionnable, fiable, tracée, au rythme mensuel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Contraintes : coût nul · délai &lt; 1 mois · forte volumétrie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Existant : SQL Server, SSRS, un traitement Eckert sous Airflow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Trous sans matériau : Spark, CI/CD, alerting, tests de sécurité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Des composants open source, locaux, portables vers le cloud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Airflow · PostgreSQL · MinIO (S3) · Spark · GitHub Actions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Interfaces standard : S3, SQL, PySpark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Vendor lock-in traité par conception (bascule cloud sans réécriture)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Trois scénarios de coût, avec des hypothèses explicites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Local (retenu) : ~ coût du temps humain seul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Cloud Azure : ~ 50 à 145 € / mois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SaaS Snowflake/Fabric : ~ 80 à 250 € / mois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SaaS écarté (réel) : coût récurrent + souveraineté des données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Un entrepôt en quatre couches, avec des droits testés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0000"/>
            <a:ext cx="11000000" cy="1769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dirty="0">
                <a:solidFill>
                  <a:srgbClr val="404040"/>
                </a:solidFill>
                <a:latin typeface="Calibri"/>
              </a:rPr>
              <a:t>•  bronze (brut) · silver (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typé</a:t>
            </a:r>
            <a:r>
              <a:rPr sz="2100" dirty="0">
                <a:solidFill>
                  <a:srgbClr val="404040"/>
                </a:solidFill>
                <a:latin typeface="Calibri"/>
              </a:rPr>
              <a:t>) · gold (métier) · ops (journal)</a:t>
            </a:r>
          </a:p>
          <a:p>
            <a:pPr>
              <a:spcAft>
                <a:spcPts val="1000"/>
              </a:spcAft>
            </a:pPr>
            <a:r>
              <a:rPr sz="2100" dirty="0">
                <a:solidFill>
                  <a:srgbClr val="404040"/>
                </a:solidFill>
                <a:latin typeface="Calibri"/>
              </a:rPr>
              <a:t>•  Deux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rôles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: le pipeline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écrit</a:t>
            </a:r>
            <a:r>
              <a:rPr sz="2100" dirty="0">
                <a:solidFill>
                  <a:srgbClr val="404040"/>
                </a:solidFill>
                <a:latin typeface="Calibri"/>
              </a:rPr>
              <a:t>, le métier lit gold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seulement</a:t>
            </a:r>
            <a:endParaRPr sz="2100" dirty="0">
              <a:solidFill>
                <a:srgbClr val="404040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2100" dirty="0">
                <a:solidFill>
                  <a:srgbClr val="404040"/>
                </a:solidFill>
                <a:latin typeface="Calibri"/>
              </a:rPr>
              <a:t>•  Le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rôle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lecture ne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peut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ni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écrire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ni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lire le brut</a:t>
            </a:r>
            <a:r>
              <a:rPr lang="fr-FR" sz="2100" dirty="0">
                <a:solidFill>
                  <a:srgbClr val="404040"/>
                </a:solidFill>
                <a:latin typeface="Calibri"/>
              </a:rPr>
              <a:t> -&gt;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TESTÉ</a:t>
            </a:r>
          </a:p>
          <a:p>
            <a:pPr>
              <a:spcAft>
                <a:spcPts val="1000"/>
              </a:spcAft>
            </a:pPr>
            <a:r>
              <a:rPr sz="2100" dirty="0">
                <a:solidFill>
                  <a:srgbClr val="404040"/>
                </a:solidFill>
                <a:latin typeface="Calibri"/>
              </a:rPr>
              <a:t>•  Le métier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consomme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une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vue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déjà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priorisée</a:t>
            </a:r>
            <a:endParaRPr sz="2100" dirty="0">
              <a:solidFill>
                <a:srgbClr val="40404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Trois méthodes de pipeline, dont le distribué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Fil de l'eau (SQL) : typage, nettoyage, déduplication dans le moteur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Orchestration (Airflow) : enchaîne et fiabilise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Distribué (Spark) : absorbe le volume du rapprochement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Chaque méthode produit une donnée demandée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Orchestration : le DAG réel tourne vert sur le fichier INSEE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500000"/>
            <a:ext cx="110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404040"/>
                </a:solidFill>
                <a:latin typeface="Calibri"/>
              </a:rPr>
              <a:t>•  4 tâches · retries · SLA · callbacks d'alerte · exécution réelle data.gouv</a:t>
            </a:r>
          </a:p>
        </p:txBody>
      </p:sp>
      <p:pic>
        <p:nvPicPr>
          <p:cNvPr id="5" name="Picture 4" descr="C4-2-2_airflow_r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0000" y="2850000"/>
            <a:ext cx="9400000" cy="276412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Distribué : Spark détecte 4 162 contrats, 88 M€ en CERTAIN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500000"/>
            <a:ext cx="110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404040"/>
                </a:solidFill>
                <a:latin typeface="Calibri"/>
              </a:rPr>
              <a:t>•  Rapprochement sur cluster · 3 niveaux CERTAIN / PROBABLE / A_VERIFIER · app FINISHED</a:t>
            </a:r>
          </a:p>
        </p:txBody>
      </p:sp>
      <p:pic>
        <p:nvPicPr>
          <p:cNvPr id="5" name="Picture 4" descr="C4-2-2_spark_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0000" y="2850000"/>
            <a:ext cx="9400000" cy="389624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CI/CD : cinq jobs verts et un déploiement réel sur registre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500000"/>
            <a:ext cx="110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404040"/>
                </a:solidFill>
                <a:latin typeface="Calibri"/>
              </a:rPr>
              <a:t>•  Qualité · tests · sécurité · validation DAG · déploiement (image sur GHCR)</a:t>
            </a:r>
          </a:p>
        </p:txBody>
      </p:sp>
      <p:pic>
        <p:nvPicPr>
          <p:cNvPr id="5" name="Picture 4" descr="C4-2-3_ci_run_v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0000" y="2850000"/>
            <a:ext cx="9400000" cy="424911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Supervision : indicateurs, seuils, et une alerte réellement délivrée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500000"/>
            <a:ext cx="110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404040"/>
                </a:solidFill>
                <a:latin typeface="Calibri"/>
              </a:rPr>
              <a:t>•  Statut · SLA · taux de rejet · journal ops · webhook reçu · escalade courriel</a:t>
            </a:r>
          </a:p>
        </p:txBody>
      </p:sp>
      <p:pic>
        <p:nvPicPr>
          <p:cNvPr id="5" name="Picture 4" descr="C4-3-1_airflow_eventl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0000" y="2850000"/>
            <a:ext cx="9400000" cy="29846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Exploitation : un calendrier de MCO et une doc réutilisable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C4.3.2 · C4.3.3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Cycles mensuel → annuel · rotation des secrets et des certificats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Runbook des incidents courants (DAG, Spark, reset)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Un successeur reprend sans moi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Une recette automatisée : 19 tests, dont la sécurité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Tests fonctionnels, structurels ET de sécurité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Droits · non-exposition des secrets · scan de dépendances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Rejouée à chaque push : un filet permanent, pas un instantané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L'incident : la confiance aveugle dans les métadonnées déclarées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La V1 validait le fichier sur la taille et l'empreinte ANNONCÉES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Le producteur cesse de les publier → rejet systématique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Fichiers pourtant parfaitement exploitables · échec quotidien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Le correctif : valider le contenu, pas la promesse — rejeu vert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Métadonnées → simple alerte ; le CONTENU devient la seule vérité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Fichier sain sans métadonnées : CONFORME · corrompu : bloqué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Test de non-régression : l'incident ne peut plus revenir en silence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Bilan : ce qui tourne, les limites assumées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Bilan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Chaîne complète prouvée : ingestion → Spark → gold → restitution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Sécurité testée · CI verte · incident rejoué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Limites : Postgres unique · Spark lancé manuellement · pas de supervision infra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À poursuivre : déclenchement Spark par Airflow, supervision d'infra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A1 — Schéma de l'entrepôt : couches, tables, rôles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Annexe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4 schémas · 6 tables · 2 rôles · 1 vue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Preuve : C4-2-1_schema_postgres.txt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A2 — Estimation des coûts détaillée (3 scénarios)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Annexe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Hypothèses de volumétrie explicites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Comparatif local / Azure / SaaS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A3 — Workflow CI/CD complet (5 jobs)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Annexe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.github/workflows/ci.yml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Qualité, tests, sécurité, DAG, déploiement GHCR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849</Words>
  <Application>Microsoft Office PowerPoint</Application>
  <PresentationFormat>Grand écran</PresentationFormat>
  <Paragraphs>100</Paragraphs>
  <Slides>20</Slides>
  <Notes>20</Notes>
  <HiddenSlides>3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JOVANOVIC Emmanuel</cp:lastModifiedBy>
  <cp:revision>2</cp:revision>
  <dcterms:created xsi:type="dcterms:W3CDTF">2013-01-27T09:14:16Z</dcterms:created>
  <dcterms:modified xsi:type="dcterms:W3CDTF">2026-09-12T12:59:32Z</dcterms:modified>
  <cp:category/>
</cp:coreProperties>
</file>