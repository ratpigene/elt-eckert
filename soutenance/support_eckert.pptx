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En 30 minutes, je vous présente une plateforme data que j'ai conçue et opérée pour répondre à l'obligation loi Eckert, puis je réponds à vos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mutuelle doit repérer ses adhérents décédés pour verser les capitaux des contrats en déshérence. C'est une obligation légale — la loi Eckert — sous risque de sanction. La source de vérité, c'est le fichier des décès de l'INSEE.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d'honnêteté important : j'ai reconstruit entièrement cette plateforme, sur un contexte réel. Ce n'est pas le SI de l'entreprise. Le fichier décès est la vraie donnée publique, mais le référentiel adhérents est synthétique, généré avec Faker : aucune donnée personnelle réelle. J'ai vécu l'ingestion Eckert en production, et l'incident que je rejouerai à la fin.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contraintes cadrent tout : coût nul, donc tout en local ; délai court, donc chaque brique démontrable en cinq minutes ; et une forte volumétrie. L'existant couvrait SQL Server et un Airflow. Mais quatre compétences n'avaient aucun matériau : le distribué, la CI/CD, l'alerting et les tests de sécurité. Ce sont mes priorités.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retenu cinq briques open source. Toutes exposent des interfaces standard — S3, SQL, PySpark — ce qui traite le vendor lock-in par conception : je peux basculer vers le cloud sans réécriture majeure.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le coût, j'ai chiffré trois scénarios avec des hypothèses assumées. Le local coûte surtout du temps humain ; Azure, 50 à 145 € par mois ; le SaaS, 80 à 250. Dans le contexte réel, le SaaS a été écarté pour son coût récurrent et la souveraineté des données de santé. Le jury attend une méthode de chiffrage, pas un devis exact.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L'entrepôt est en quatre couches : le brut, le nettoyé, le métier, le journal. Deux rôles appliquent le moindre privilège. Et je le prouve par des tests : le rôle lecture ne peut ni écrire, ni lire le brut. Le métier consomme une vue déjà priorisée par niveau de confiance.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compétence pipelines exige trois méthodes. Le fil de l'eau, en SQL, nettoie et dédoublonne au plus près de la donnée. L'orchestration Airflow enchaîne et fiabilise. Et le distribué, avec Spark, absorbe le volume du rapprochement. Les trois tournent.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DAG réel : quatre tâches, de la récupération du catalogue à la promotion silver, avec retries, SLA et callbacks. Il tourne au vert sur le vrai fichier INSEE téléchargé depuis data.gouv.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rapprochement tourne sur un cluster Spark et gradue la confiance en trois niveaux, faute d'identifiant national. Résultat : 4 162 contrats potentiellement en déshérence, dont 88 millions d'euros en niveau certain. Sur le seul volume mensuel, un Postgres indexé suffirait — je l'assume ; Spark se justifie par la volumétrie cumulée et la trajectoire de croissance.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CI/CD, construite de zéro, enchaîne cinq contrôles à chaque push : qualité, tests, scan de sécurité, validation des DAG, et déploiement. Le déploiement est réel : l'image est publiée sur le registre GitHub, puis re-téléchargée et testée. Détail assumé : mon premier run était rouge — la preuve que les garde-fous mordent.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supervision surveille le statut, les SLA et surtout le taux de rejet. Chaque étape est journalisée. Sur échec, une alerte part vraiment : j'ai capturé la notification reçue par le destinataire, avec le lien vers le journal. Un dépassement de délai escalade par courriel.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feuille de route calendaire cadre la maintenance : rotation des secrets au trimestre, certificats au semestre. Et une documentation avec runbook permet à un successeur de reprendre sans moi — d'ailleurs c'est cette procédure qui a servi à monter la plateforme.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recette est automatisée : dix-neuf tests fonctionnels, structurels et de sécurité — les droits, les secrets, les dépendances. Elle est rejouée à chaque push. Ce n'est pas un instantané, c'est un filet permanent. Je peux la lancer en direct : elle passe en moins d'une seconde.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l'incident, vécu en production. Le contrôle d'entrée validait le fichier sur ses métadonnées déclarées : taille et empreinte annoncées. Après deux mois nominaux, le producteur a cessé de les publier. Résultat : rejet systématique, traitement en erreur chaque jour — alors que les fichiers étaient parfaitement exploitables. La cause n'est pas triviale : le contrat de données change sans préavis, côté producteur.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correctif inverse la logique : les métadonnées ne font qu'alerter, la vérité c'est le contenu — structure, volumétrie, taux de rejet. Un fichier sain sans métadonnées passe désormais ; un fichier corrompu reste bloqué. Un test de non-régression verrouille le cas. Je peux rejouer l'avant/après en direct, en moins d'une seconde. La leçon : une source externe n'est jamais un contrat.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bilan : la chaîne complète tourne et est prouvée, la sécurité est testée, la CI est verte, l'incident est rejoué. J'assume mes limites : une seule instance Postgres, le job Spark lancé manuellement, pas de supervision d'infrastructure. Si je continuais, j'outillerais le déclenchement Spark par Airflow et une supervision infra. Merci — je suis prêt pour vos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ouverte si le jury creuse l'entrepôt.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ouverte sur une question de coût ou de lock-in.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Annexe ouverte sur une question CI/CD ou déploiement.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2000" cy="6858000"/>
          </a:xfrm>
          <a:prstGeom prst="rect">
            <a:avLst/>
          </a:prstGeom>
          <a:solidFill>
            <a:srgbClr val="0B3D66"/>
          </a:solidFill>
          <a:ln>
            <a:noFill/>
          </a:ln>
        </p:spPr>
        <p:txBody>
          <a:bodyPr wrap="none">
            <a:spAutoFit/>
          </a:bodyPr>
          <a:lstStyle/>
          <a:p/>
        </p:txBody>
      </p:sp>
      <p:sp>
        <p:nvSpPr>
          <p:cNvPr id="3" name="TextBox 2"/>
          <p:cNvSpPr txBox="1"/>
          <p:nvPr/>
        </p:nvSpPr>
        <p:spPr>
          <a:xfrm>
            <a:off x="700000" y="2300000"/>
            <a:ext cx="10800000" cy="1500000"/>
          </a:xfrm>
          <a:prstGeom prst="rect">
            <a:avLst/>
          </a:prstGeom>
          <a:noFill/>
        </p:spPr>
        <p:txBody>
          <a:bodyPr wrap="square">
            <a:spAutoFit/>
          </a:bodyPr>
          <a:lstStyle/>
          <a:p>
            <a:pPr algn="l"/>
            <a:r>
              <a:rPr sz="3400" b="1">
                <a:solidFill>
                  <a:srgbClr val="FFFFFF"/>
                </a:solidFill>
                <a:latin typeface="Calibri"/>
              </a:rPr>
              <a:t>Plateforme ELT Eckert — détecter les contrats en déshérence</a:t>
            </a:r>
          </a:p>
        </p:txBody>
      </p:sp>
      <p:sp>
        <p:nvSpPr>
          <p:cNvPr id="4" name="TextBox 3"/>
          <p:cNvSpPr txBox="1"/>
          <p:nvPr/>
        </p:nvSpPr>
        <p:spPr>
          <a:xfrm>
            <a:off x="700000" y="3900000"/>
            <a:ext cx="10800000" cy="1000000"/>
          </a:xfrm>
          <a:prstGeom prst="rect">
            <a:avLst/>
          </a:prstGeom>
          <a:noFill/>
        </p:spPr>
        <p:txBody>
          <a:bodyPr wrap="square">
            <a:spAutoFit/>
          </a:bodyPr>
          <a:lstStyle/>
          <a:p>
            <a:pPr algn="l"/>
            <a:r>
              <a:rPr sz="2200" b="0">
                <a:solidFill>
                  <a:srgbClr val="E8ECF0"/>
                </a:solidFill>
                <a:latin typeface="Calibri"/>
              </a:rPr>
              <a:t>Bloc 4 · Spécialité Data Engineer · RNCP 39586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Une obligation légale : identifier les adhérents décédés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Contexte</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Loi Eckert : traiter les contrats non réglés au décès</a:t>
            </a:r>
          </a:p>
          <a:p>
            <a:pPr>
              <a:spcAft>
                <a:spcPts val="1000"/>
              </a:spcAft>
            </a:pPr>
            <a:r>
              <a:rPr sz="2100">
                <a:solidFill>
                  <a:srgbClr val="404040"/>
                </a:solidFill>
                <a:latin typeface="Calibri"/>
              </a:rPr>
              <a:t>•  Risque de sanction ACPR + restitution aux ayants droit</a:t>
            </a:r>
          </a:p>
          <a:p>
            <a:pPr>
              <a:spcAft>
                <a:spcPts val="1000"/>
              </a:spcAft>
            </a:pPr>
            <a:r>
              <a:rPr sz="2100">
                <a:solidFill>
                  <a:srgbClr val="404040"/>
                </a:solidFill>
                <a:latin typeface="Calibri"/>
              </a:rPr>
              <a:t>•  Source de vérité : fichier des décès de l'INSEE (data.gouv.fr)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Une plateforme reconstruite sur un contexte réel — et mon rôle</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Contexte</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Contexte métier réel vécu en alternance (Prévifrance)</a:t>
            </a:r>
          </a:p>
          <a:p>
            <a:pPr>
              <a:spcAft>
                <a:spcPts val="1000"/>
              </a:spcAft>
            </a:pPr>
            <a:r>
              <a:rPr sz="2100">
                <a:solidFill>
                  <a:srgbClr val="404040"/>
                </a:solidFill>
                <a:latin typeface="Calibri"/>
              </a:rPr>
              <a:t>•  Plateforme entièrement RECONSTRUITE pour ce dossier</a:t>
            </a:r>
          </a:p>
          <a:p>
            <a:pPr>
              <a:spcAft>
                <a:spcPts val="1000"/>
              </a:spcAft>
            </a:pPr>
            <a:r>
              <a:rPr sz="2100">
                <a:solidFill>
                  <a:srgbClr val="404040"/>
                </a:solidFill>
                <a:latin typeface="Calibri"/>
              </a:rPr>
              <a:t>•  Fichier INSEE réel · référentiel adhérents synthétique (Faker)</a:t>
            </a:r>
          </a:p>
          <a:p>
            <a:pPr>
              <a:spcAft>
                <a:spcPts val="1000"/>
              </a:spcAft>
            </a:pPr>
            <a:r>
              <a:rPr sz="2100">
                <a:solidFill>
                  <a:srgbClr val="404040"/>
                </a:solidFill>
                <a:latin typeface="Calibri"/>
              </a:rPr>
              <a:t>•  J'ai vécu en production l'ingestion Eckert et l'incident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Analyse : besoins, contraintes, et les quatre trous à combler</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C4.1.1</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Besoin : une donnée actionnable, fiable, tracée, au rythme mensuel</a:t>
            </a:r>
          </a:p>
          <a:p>
            <a:pPr>
              <a:spcAft>
                <a:spcPts val="1000"/>
              </a:spcAft>
            </a:pPr>
            <a:r>
              <a:rPr sz="2100">
                <a:solidFill>
                  <a:srgbClr val="404040"/>
                </a:solidFill>
                <a:latin typeface="Calibri"/>
              </a:rPr>
              <a:t>•  Contraintes : coût nul · délai &lt; 1 mois · forte volumétrie</a:t>
            </a:r>
          </a:p>
          <a:p>
            <a:pPr>
              <a:spcAft>
                <a:spcPts val="1000"/>
              </a:spcAft>
            </a:pPr>
            <a:r>
              <a:rPr sz="2100">
                <a:solidFill>
                  <a:srgbClr val="404040"/>
                </a:solidFill>
                <a:latin typeface="Calibri"/>
              </a:rPr>
              <a:t>•  Existant : SQL Server, SSRS, un traitement Eckert sous Airflow</a:t>
            </a:r>
          </a:p>
          <a:p>
            <a:pPr>
              <a:spcAft>
                <a:spcPts val="1000"/>
              </a:spcAft>
            </a:pPr>
            <a:r>
              <a:rPr sz="2100">
                <a:solidFill>
                  <a:srgbClr val="404040"/>
                </a:solidFill>
                <a:latin typeface="Calibri"/>
              </a:rPr>
              <a:t>•  Trous sans matériau : Spark, CI/CD, alerting, tests de sécurité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Des composants open source, locaux, portables vers le cloud</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C4.1.2</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Airflow · PostgreSQL · MinIO (S3) · Spark · GitHub Actions</a:t>
            </a:r>
          </a:p>
          <a:p>
            <a:pPr>
              <a:spcAft>
                <a:spcPts val="1000"/>
              </a:spcAft>
            </a:pPr>
            <a:r>
              <a:rPr sz="2100">
                <a:solidFill>
                  <a:srgbClr val="404040"/>
                </a:solidFill>
                <a:latin typeface="Calibri"/>
              </a:rPr>
              <a:t>•  Interfaces standard : S3, SQL, PySpark</a:t>
            </a:r>
          </a:p>
          <a:p>
            <a:pPr>
              <a:spcAft>
                <a:spcPts val="1000"/>
              </a:spcAft>
            </a:pPr>
            <a:r>
              <a:rPr sz="2100">
                <a:solidFill>
                  <a:srgbClr val="404040"/>
                </a:solidFill>
                <a:latin typeface="Calibri"/>
              </a:rPr>
              <a:t>•  Vendor lock-in traité par conception (bascule cloud sans réécriture)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Trois scénarios de coût, avec des hypothèses explicites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C4.1.2</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Local (retenu) : ~ coût du temps humain seul</a:t>
            </a:r>
          </a:p>
          <a:p>
            <a:pPr>
              <a:spcAft>
                <a:spcPts val="1000"/>
              </a:spcAft>
            </a:pPr>
            <a:r>
              <a:rPr sz="2100">
                <a:solidFill>
                  <a:srgbClr val="404040"/>
                </a:solidFill>
                <a:latin typeface="Calibri"/>
              </a:rPr>
              <a:t>•  Cloud Azure : ~ 50 à 145 € / mois</a:t>
            </a:r>
          </a:p>
          <a:p>
            <a:pPr>
              <a:spcAft>
                <a:spcPts val="1000"/>
              </a:spcAft>
            </a:pPr>
            <a:r>
              <a:rPr sz="2100">
                <a:solidFill>
                  <a:srgbClr val="404040"/>
                </a:solidFill>
                <a:latin typeface="Calibri"/>
              </a:rPr>
              <a:t>•  SaaS Snowflake/Fabric : ~ 80 à 250 € / mois</a:t>
            </a:r>
          </a:p>
          <a:p>
            <a:pPr>
              <a:spcAft>
                <a:spcPts val="1000"/>
              </a:spcAft>
            </a:pPr>
            <a:r>
              <a:rPr sz="2100">
                <a:solidFill>
                  <a:srgbClr val="404040"/>
                </a:solidFill>
                <a:latin typeface="Calibri"/>
              </a:rPr>
              <a:t>•  SaaS écarté (réel) : coût récurrent + souveraineté des données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Un entrepôt en quatre couches, avec des droits testés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C4.2.1</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bronze (brut) · silver (typé) · gold (métier) · ops (journal)</a:t>
            </a:r>
          </a:p>
          <a:p>
            <a:pPr>
              <a:spcAft>
                <a:spcPts val="1000"/>
              </a:spcAft>
            </a:pPr>
            <a:r>
              <a:rPr sz="2100">
                <a:solidFill>
                  <a:srgbClr val="404040"/>
                </a:solidFill>
                <a:latin typeface="Calibri"/>
              </a:rPr>
              <a:t>•  Deux rôles : le pipeline écrit, le métier lit gold seulement</a:t>
            </a:r>
          </a:p>
          <a:p>
            <a:pPr>
              <a:spcAft>
                <a:spcPts val="1000"/>
              </a:spcAft>
            </a:pPr>
            <a:r>
              <a:rPr sz="2100">
                <a:solidFill>
                  <a:srgbClr val="404040"/>
                </a:solidFill>
                <a:latin typeface="Calibri"/>
              </a:rPr>
              <a:t>•  Le rôle lecture ne peut ni écrire ni lire le brut — TESTÉ</a:t>
            </a:r>
          </a:p>
          <a:p>
            <a:pPr>
              <a:spcAft>
                <a:spcPts val="1000"/>
              </a:spcAft>
            </a:pPr>
            <a:r>
              <a:rPr sz="2100">
                <a:solidFill>
                  <a:srgbClr val="404040"/>
                </a:solidFill>
                <a:latin typeface="Calibri"/>
              </a:rPr>
              <a:t>•  Le métier consomme une vue déjà priorisée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Trois méthodes de pipeline, dont le distribué</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C4.2.2</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Fil de l'eau (SQL) : typage, nettoyage, déduplication dans le moteur</a:t>
            </a:r>
          </a:p>
          <a:p>
            <a:pPr>
              <a:spcAft>
                <a:spcPts val="1000"/>
              </a:spcAft>
            </a:pPr>
            <a:r>
              <a:rPr sz="2100">
                <a:solidFill>
                  <a:srgbClr val="404040"/>
                </a:solidFill>
                <a:latin typeface="Calibri"/>
              </a:rPr>
              <a:t>•  Orchestration (Airflow) : enchaîne et fiabilise</a:t>
            </a:r>
          </a:p>
          <a:p>
            <a:pPr>
              <a:spcAft>
                <a:spcPts val="1000"/>
              </a:spcAft>
            </a:pPr>
            <a:r>
              <a:rPr sz="2100">
                <a:solidFill>
                  <a:srgbClr val="404040"/>
                </a:solidFill>
                <a:latin typeface="Calibri"/>
              </a:rPr>
              <a:t>•  Distribué (Spark) : absorbe le volume du rapprochement</a:t>
            </a:r>
          </a:p>
          <a:p>
            <a:pPr>
              <a:spcAft>
                <a:spcPts val="1000"/>
              </a:spcAft>
            </a:pPr>
            <a:r>
              <a:rPr sz="2100">
                <a:solidFill>
                  <a:srgbClr val="404040"/>
                </a:solidFill>
                <a:latin typeface="Calibri"/>
              </a:rPr>
              <a:t>•  Chaque méthode produit une donnée demandée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Orchestration : le DAG réel tourne vert sur le fichier INSEE</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C4.2.2</a:t>
            </a:r>
          </a:p>
        </p:txBody>
      </p:sp>
      <p:sp>
        <p:nvSpPr>
          <p:cNvPr id="4" name="TextBox 3"/>
          <p:cNvSpPr txBox="1"/>
          <p:nvPr/>
        </p:nvSpPr>
        <p:spPr>
          <a:xfrm>
            <a:off x="600000" y="1500000"/>
            <a:ext cx="11000000" cy="1250000"/>
          </a:xfrm>
          <a:prstGeom prst="rect">
            <a:avLst/>
          </a:prstGeom>
          <a:noFill/>
        </p:spPr>
        <p:txBody>
          <a:bodyPr wrap="square">
            <a:spAutoFit/>
          </a:bodyPr>
          <a:lstStyle/>
          <a:p>
            <a:pPr>
              <a:spcAft>
                <a:spcPts val="1000"/>
              </a:spcAft>
            </a:pPr>
            <a:r>
              <a:rPr sz="1700">
                <a:solidFill>
                  <a:srgbClr val="404040"/>
                </a:solidFill>
                <a:latin typeface="Calibri"/>
              </a:rPr>
              <a:t>•  4 tâches · retries · SLA · callbacks d'alerte · exécution réelle data.gouv</a:t>
            </a:r>
          </a:p>
        </p:txBody>
      </p:sp>
      <p:pic>
        <p:nvPicPr>
          <p:cNvPr id="5" name="Picture 4" descr="C4-2-2_airflow_run.png"/>
          <p:cNvPicPr>
            <a:picLocks noChangeAspect="1"/>
          </p:cNvPicPr>
          <p:nvPr/>
        </p:nvPicPr>
        <p:blipFill>
          <a:blip r:embed="rId2"/>
          <a:stretch>
            <a:fillRect/>
          </a:stretch>
        </p:blipFill>
        <p:spPr>
          <a:xfrm>
            <a:off x="1400000" y="2850000"/>
            <a:ext cx="9400000" cy="276412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Distribué : Spark détecte 4 162 contrats, 88 M€ en CERTAIN</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C4.2.2</a:t>
            </a:r>
          </a:p>
        </p:txBody>
      </p:sp>
      <p:sp>
        <p:nvSpPr>
          <p:cNvPr id="4" name="TextBox 3"/>
          <p:cNvSpPr txBox="1"/>
          <p:nvPr/>
        </p:nvSpPr>
        <p:spPr>
          <a:xfrm>
            <a:off x="600000" y="1500000"/>
            <a:ext cx="11000000" cy="1250000"/>
          </a:xfrm>
          <a:prstGeom prst="rect">
            <a:avLst/>
          </a:prstGeom>
          <a:noFill/>
        </p:spPr>
        <p:txBody>
          <a:bodyPr wrap="square">
            <a:spAutoFit/>
          </a:bodyPr>
          <a:lstStyle/>
          <a:p>
            <a:pPr>
              <a:spcAft>
                <a:spcPts val="1000"/>
              </a:spcAft>
            </a:pPr>
            <a:r>
              <a:rPr sz="1700">
                <a:solidFill>
                  <a:srgbClr val="404040"/>
                </a:solidFill>
                <a:latin typeface="Calibri"/>
              </a:rPr>
              <a:t>•  Rapprochement sur cluster · 3 niveaux CERTAIN / PROBABLE / A_VERIFIER · app FINISHED</a:t>
            </a:r>
          </a:p>
        </p:txBody>
      </p:sp>
      <p:pic>
        <p:nvPicPr>
          <p:cNvPr id="5" name="Picture 4" descr="C4-2-2_spark_ui.png"/>
          <p:cNvPicPr>
            <a:picLocks noChangeAspect="1"/>
          </p:cNvPicPr>
          <p:nvPr/>
        </p:nvPicPr>
        <p:blipFill>
          <a:blip r:embed="rId2"/>
          <a:stretch>
            <a:fillRect/>
          </a:stretch>
        </p:blipFill>
        <p:spPr>
          <a:xfrm>
            <a:off x="1400000" y="2850000"/>
            <a:ext cx="9400000" cy="389624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CI/CD : cinq jobs verts et un déploiement réel sur registre</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C4.2.3</a:t>
            </a:r>
          </a:p>
        </p:txBody>
      </p:sp>
      <p:sp>
        <p:nvSpPr>
          <p:cNvPr id="4" name="TextBox 3"/>
          <p:cNvSpPr txBox="1"/>
          <p:nvPr/>
        </p:nvSpPr>
        <p:spPr>
          <a:xfrm>
            <a:off x="600000" y="1500000"/>
            <a:ext cx="11000000" cy="1250000"/>
          </a:xfrm>
          <a:prstGeom prst="rect">
            <a:avLst/>
          </a:prstGeom>
          <a:noFill/>
        </p:spPr>
        <p:txBody>
          <a:bodyPr wrap="square">
            <a:spAutoFit/>
          </a:bodyPr>
          <a:lstStyle/>
          <a:p>
            <a:pPr>
              <a:spcAft>
                <a:spcPts val="1000"/>
              </a:spcAft>
            </a:pPr>
            <a:r>
              <a:rPr sz="1700">
                <a:solidFill>
                  <a:srgbClr val="404040"/>
                </a:solidFill>
                <a:latin typeface="Calibri"/>
              </a:rPr>
              <a:t>•  Qualité · tests · sécurité · validation DAG · déploiement (image sur GHCR)</a:t>
            </a:r>
          </a:p>
        </p:txBody>
      </p:sp>
      <p:pic>
        <p:nvPicPr>
          <p:cNvPr id="5" name="Picture 4" descr="C4-2-3_ci_run_vert.png"/>
          <p:cNvPicPr>
            <a:picLocks noChangeAspect="1"/>
          </p:cNvPicPr>
          <p:nvPr/>
        </p:nvPicPr>
        <p:blipFill>
          <a:blip r:embed="rId2"/>
          <a:stretch>
            <a:fillRect/>
          </a:stretch>
        </p:blipFill>
        <p:spPr>
          <a:xfrm>
            <a:off x="1400000" y="2850000"/>
            <a:ext cx="9400000" cy="42491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Supervision : indicateurs, seuils, et une alerte réellement délivrée</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C4.3.1</a:t>
            </a:r>
          </a:p>
        </p:txBody>
      </p:sp>
      <p:sp>
        <p:nvSpPr>
          <p:cNvPr id="4" name="TextBox 3"/>
          <p:cNvSpPr txBox="1"/>
          <p:nvPr/>
        </p:nvSpPr>
        <p:spPr>
          <a:xfrm>
            <a:off x="600000" y="1500000"/>
            <a:ext cx="11000000" cy="1250000"/>
          </a:xfrm>
          <a:prstGeom prst="rect">
            <a:avLst/>
          </a:prstGeom>
          <a:noFill/>
        </p:spPr>
        <p:txBody>
          <a:bodyPr wrap="square">
            <a:spAutoFit/>
          </a:bodyPr>
          <a:lstStyle/>
          <a:p>
            <a:pPr>
              <a:spcAft>
                <a:spcPts val="1000"/>
              </a:spcAft>
            </a:pPr>
            <a:r>
              <a:rPr sz="1700">
                <a:solidFill>
                  <a:srgbClr val="404040"/>
                </a:solidFill>
                <a:latin typeface="Calibri"/>
              </a:rPr>
              <a:t>•  Statut · SLA · taux de rejet · journal ops · webhook reçu · escalade courriel</a:t>
            </a:r>
          </a:p>
        </p:txBody>
      </p:sp>
      <p:pic>
        <p:nvPicPr>
          <p:cNvPr id="5" name="Picture 4" descr="C4-3-1_airflow_eventlog.png"/>
          <p:cNvPicPr>
            <a:picLocks noChangeAspect="1"/>
          </p:cNvPicPr>
          <p:nvPr/>
        </p:nvPicPr>
        <p:blipFill>
          <a:blip r:embed="rId2"/>
          <a:stretch>
            <a:fillRect/>
          </a:stretch>
        </p:blipFill>
        <p:spPr>
          <a:xfrm>
            <a:off x="1400000" y="2850000"/>
            <a:ext cx="9400000" cy="298467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Exploitation : un calendrier de MCO et une doc réutilisable</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C4.3.2 · C4.3.3</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Cycles mensuel → annuel · rotation des secrets et des certificats</a:t>
            </a:r>
          </a:p>
          <a:p>
            <a:pPr>
              <a:spcAft>
                <a:spcPts val="1000"/>
              </a:spcAft>
            </a:pPr>
            <a:r>
              <a:rPr sz="2100">
                <a:solidFill>
                  <a:srgbClr val="404040"/>
                </a:solidFill>
                <a:latin typeface="Calibri"/>
              </a:rPr>
              <a:t>•  Runbook des incidents courants (DAG, Spark, reset)</a:t>
            </a:r>
          </a:p>
          <a:p>
            <a:pPr>
              <a:spcAft>
                <a:spcPts val="1000"/>
              </a:spcAft>
            </a:pPr>
            <a:r>
              <a:rPr sz="2100">
                <a:solidFill>
                  <a:srgbClr val="404040"/>
                </a:solidFill>
                <a:latin typeface="Calibri"/>
              </a:rPr>
              <a:t>•  Un successeur reprend sans moi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Une recette automatisée : 19 tests, dont la sécurité</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C4.4.1</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Tests fonctionnels, structurels ET de sécurité</a:t>
            </a:r>
          </a:p>
          <a:p>
            <a:pPr>
              <a:spcAft>
                <a:spcPts val="1000"/>
              </a:spcAft>
            </a:pPr>
            <a:r>
              <a:rPr sz="2100">
                <a:solidFill>
                  <a:srgbClr val="404040"/>
                </a:solidFill>
                <a:latin typeface="Calibri"/>
              </a:rPr>
              <a:t>•  Droits · non-exposition des secrets · scan de dépendances</a:t>
            </a:r>
          </a:p>
          <a:p>
            <a:pPr>
              <a:spcAft>
                <a:spcPts val="1000"/>
              </a:spcAft>
            </a:pPr>
            <a:r>
              <a:rPr sz="2100">
                <a:solidFill>
                  <a:srgbClr val="404040"/>
                </a:solidFill>
                <a:latin typeface="Calibri"/>
              </a:rPr>
              <a:t>•  Rejouée à chaque push : un filet permanent, pas un instantané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L'incident : la confiance aveugle dans les métadonnées déclarées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C4.4.2</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La V1 validait le fichier sur la taille et l'empreinte ANNONCÉES</a:t>
            </a:r>
          </a:p>
          <a:p>
            <a:pPr>
              <a:spcAft>
                <a:spcPts val="1000"/>
              </a:spcAft>
            </a:pPr>
            <a:r>
              <a:rPr sz="2100">
                <a:solidFill>
                  <a:srgbClr val="404040"/>
                </a:solidFill>
                <a:latin typeface="Calibri"/>
              </a:rPr>
              <a:t>•  Le producteur cesse de les publier → rejet systématique</a:t>
            </a:r>
          </a:p>
          <a:p>
            <a:pPr>
              <a:spcAft>
                <a:spcPts val="1000"/>
              </a:spcAft>
            </a:pPr>
            <a:r>
              <a:rPr sz="2100">
                <a:solidFill>
                  <a:srgbClr val="404040"/>
                </a:solidFill>
                <a:latin typeface="Calibri"/>
              </a:rPr>
              <a:t>•  Fichiers pourtant parfaitement exploitables · échec quotidien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Le correctif : valider le contenu, pas la promesse — rejeu vert</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C4.4.2</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Métadonnées → simple alerte ; le CONTENU devient la seule vérité</a:t>
            </a:r>
          </a:p>
          <a:p>
            <a:pPr>
              <a:spcAft>
                <a:spcPts val="1000"/>
              </a:spcAft>
            </a:pPr>
            <a:r>
              <a:rPr sz="2100">
                <a:solidFill>
                  <a:srgbClr val="404040"/>
                </a:solidFill>
                <a:latin typeface="Calibri"/>
              </a:rPr>
              <a:t>•  Fichier sain sans métadonnées : CONFORME · corrompu : bloqué</a:t>
            </a:r>
          </a:p>
          <a:p>
            <a:pPr>
              <a:spcAft>
                <a:spcPts val="1000"/>
              </a:spcAft>
            </a:pPr>
            <a:r>
              <a:rPr sz="2100">
                <a:solidFill>
                  <a:srgbClr val="404040"/>
                </a:solidFill>
                <a:latin typeface="Calibri"/>
              </a:rPr>
              <a:t>•  Test de non-régression : l'incident ne peut plus revenir en silence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Bilan : ce qui tourne, les limites assumées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Bilan</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Chaîne complète prouvée : ingestion → Spark → gold → restitution</a:t>
            </a:r>
          </a:p>
          <a:p>
            <a:pPr>
              <a:spcAft>
                <a:spcPts val="1000"/>
              </a:spcAft>
            </a:pPr>
            <a:r>
              <a:rPr sz="2100">
                <a:solidFill>
                  <a:srgbClr val="404040"/>
                </a:solidFill>
                <a:latin typeface="Calibri"/>
              </a:rPr>
              <a:t>•  Sécurité testée · CI verte · incident rejoué</a:t>
            </a:r>
          </a:p>
          <a:p>
            <a:pPr>
              <a:spcAft>
                <a:spcPts val="1000"/>
              </a:spcAft>
            </a:pPr>
            <a:r>
              <a:rPr sz="2100">
                <a:solidFill>
                  <a:srgbClr val="404040"/>
                </a:solidFill>
                <a:latin typeface="Calibri"/>
              </a:rPr>
              <a:t>•  Limites : Postgres unique · Spark lancé manuellement · pas de supervision infra</a:t>
            </a:r>
          </a:p>
          <a:p>
            <a:pPr>
              <a:spcAft>
                <a:spcPts val="1000"/>
              </a:spcAft>
            </a:pPr>
            <a:r>
              <a:rPr sz="2100">
                <a:solidFill>
                  <a:srgbClr val="404040"/>
                </a:solidFill>
                <a:latin typeface="Calibri"/>
              </a:rPr>
              <a:t>•  À poursuivre : déclenchement Spark par Airflow, supervision d'infra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A1 — Schéma de l'entrepôt : couches, tables, rôles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Annexe</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4 schémas · 6 tables · 2 rôles · 1 vue</a:t>
            </a:r>
          </a:p>
          <a:p>
            <a:pPr>
              <a:spcAft>
                <a:spcPts val="1000"/>
              </a:spcAft>
            </a:pPr>
            <a:r>
              <a:rPr sz="2100">
                <a:solidFill>
                  <a:srgbClr val="404040"/>
                </a:solidFill>
                <a:latin typeface="Calibri"/>
              </a:rPr>
              <a:t>•  Preuve : C4-2-1_schema_postgres.txt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A2 — Estimation des coûts détaillée (3 scénarios)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Annexe</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Hypothèses de volumétrie explicites</a:t>
            </a:r>
          </a:p>
          <a:p>
            <a:pPr>
              <a:spcAft>
                <a:spcPts val="1000"/>
              </a:spcAft>
            </a:pPr>
            <a:r>
              <a:rPr sz="2100">
                <a:solidFill>
                  <a:srgbClr val="404040"/>
                </a:solidFill>
                <a:latin typeface="Calibri"/>
              </a:rPr>
              <a:t>•  Comparatif local / Azure / SaaS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500000" y="300000"/>
            <a:ext cx="9200000" cy="1150000"/>
          </a:xfrm>
          <a:prstGeom prst="rect">
            <a:avLst/>
          </a:prstGeom>
          <a:noFill/>
        </p:spPr>
        <p:txBody>
          <a:bodyPr wrap="square">
            <a:spAutoFit/>
          </a:bodyPr>
          <a:lstStyle/>
          <a:p>
            <a:pPr algn="l"/>
            <a:r>
              <a:rPr sz="2900" b="1">
                <a:solidFill>
                  <a:srgbClr val="0B3D66"/>
                </a:solidFill>
                <a:latin typeface="Calibri"/>
              </a:rPr>
              <a:t>A3 — Workflow CI/CD complet (5 jobs)</a:t>
            </a:r>
          </a:p>
        </p:txBody>
      </p:sp>
      <p:sp>
        <p:nvSpPr>
          <p:cNvPr id="3" name="TextBox 2"/>
          <p:cNvSpPr txBox="1"/>
          <p:nvPr/>
        </p:nvSpPr>
        <p:spPr>
          <a:xfrm>
            <a:off x="10000000" y="180000"/>
            <a:ext cx="1950000" cy="520000"/>
          </a:xfrm>
          <a:prstGeom prst="rect">
            <a:avLst/>
          </a:prstGeom>
          <a:solidFill>
            <a:srgbClr val="C0392B"/>
          </a:solidFill>
          <a:ln>
            <a:noFill/>
          </a:ln>
        </p:spPr>
        <p:txBody>
          <a:bodyPr wrap="square" anchor="ctr">
            <a:spAutoFit/>
          </a:bodyPr>
          <a:lstStyle/>
          <a:p>
            <a:pPr algn="ctr"/>
            <a:r>
              <a:rPr sz="1600" b="1">
                <a:solidFill>
                  <a:srgbClr val="FFFFFF"/>
                </a:solidFill>
                <a:latin typeface="Calibri"/>
              </a:rPr>
              <a:t>Annexe</a:t>
            </a:r>
          </a:p>
        </p:txBody>
      </p:sp>
      <p:sp>
        <p:nvSpPr>
          <p:cNvPr id="4" name="TextBox 3"/>
          <p:cNvSpPr txBox="1"/>
          <p:nvPr/>
        </p:nvSpPr>
        <p:spPr>
          <a:xfrm>
            <a:off x="600000" y="1650000"/>
            <a:ext cx="11000000" cy="4600000"/>
          </a:xfrm>
          <a:prstGeom prst="rect">
            <a:avLst/>
          </a:prstGeom>
          <a:noFill/>
        </p:spPr>
        <p:txBody>
          <a:bodyPr wrap="square">
            <a:spAutoFit/>
          </a:bodyPr>
          <a:lstStyle/>
          <a:p>
            <a:pPr>
              <a:spcAft>
                <a:spcPts val="1000"/>
              </a:spcAft>
            </a:pPr>
            <a:r>
              <a:rPr sz="2100">
                <a:solidFill>
                  <a:srgbClr val="404040"/>
                </a:solidFill>
                <a:latin typeface="Calibri"/>
              </a:rPr>
              <a:t>•  .github/workflows/ci.yml</a:t>
            </a:r>
          </a:p>
          <a:p>
            <a:pPr>
              <a:spcAft>
                <a:spcPts val="1000"/>
              </a:spcAft>
            </a:pPr>
            <a:r>
              <a:rPr sz="2100">
                <a:solidFill>
                  <a:srgbClr val="404040"/>
                </a:solidFill>
                <a:latin typeface="Calibri"/>
              </a:rPr>
              <a:t>•  Qualité, tests, sécurité, DAG, déploiement GHCR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