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22844" autoAdjust="0"/>
  </p:normalViewPr>
  <p:slideViewPr>
    <p:cSldViewPr snapToGrid="0" snapToObjects="1">
      <p:cViewPr varScale="1">
        <p:scale>
          <a:sx n="18" d="100"/>
          <a:sy n="18" d="100"/>
        </p:scale>
        <p:origin x="25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72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0000" y="2300000"/>
            <a:ext cx="10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Plateforme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ELT Eckert — 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détecter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les 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contrats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déshérence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6000" y="3900000"/>
            <a:ext cx="10800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E8ECF0"/>
                </a:solidFill>
                <a:latin typeface="Calibri"/>
              </a:rPr>
              <a:t>Bloc 4 · Spécialité Data Engineer · RNCP 39586</a:t>
            </a:r>
            <a:endParaRPr lang="fr-FR" sz="2200" b="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b="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b="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dirty="0">
              <a:solidFill>
                <a:srgbClr val="E8ECF0"/>
              </a:solidFill>
              <a:latin typeface="Calibri"/>
            </a:endParaRPr>
          </a:p>
          <a:p>
            <a:pPr algn="l"/>
            <a:endParaRPr lang="fr-FR" sz="2200" b="0" dirty="0">
              <a:solidFill>
                <a:srgbClr val="E8ECF0"/>
              </a:solidFill>
              <a:latin typeface="Calibri"/>
            </a:endParaRPr>
          </a:p>
          <a:p>
            <a:pPr algn="l"/>
            <a:r>
              <a:rPr lang="fr-FR" sz="1600" b="0" dirty="0">
                <a:solidFill>
                  <a:srgbClr val="E8ECF0"/>
                </a:solidFill>
                <a:latin typeface="Calibri"/>
              </a:rPr>
              <a:t>Emmanuel Jovanovic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Une obligation légale : identifier les adhérents décédés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Loi Eckert : traiter les contrats non réglés au décès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Risque de sanction ACPR + restitution aux ayants droit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Source de vérité : fichier des décès de l'INSEE (data.gouv.fr)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0B3D66"/>
                </a:solidFill>
                <a:latin typeface="Calibri"/>
              </a:rPr>
              <a:t>Une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plateforme</a:t>
            </a:r>
            <a:r>
              <a:rPr sz="2900" b="1" dirty="0">
                <a:solidFill>
                  <a:srgbClr val="0B3D66"/>
                </a:solidFill>
                <a:latin typeface="Calibri"/>
              </a:rPr>
              <a:t>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reconstruite</a:t>
            </a:r>
            <a:r>
              <a:rPr sz="2900" b="1" dirty="0">
                <a:solidFill>
                  <a:srgbClr val="0B3D66"/>
                </a:solidFill>
                <a:latin typeface="Calibri"/>
              </a:rPr>
              <a:t> sur un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contexte</a:t>
            </a:r>
            <a:r>
              <a:rPr sz="2900" b="1" dirty="0">
                <a:solidFill>
                  <a:srgbClr val="0B3D66"/>
                </a:solidFill>
                <a:latin typeface="Calibri"/>
              </a:rPr>
              <a:t>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réel</a:t>
            </a:r>
            <a:r>
              <a:rPr lang="fr-FR" sz="2900" b="1" dirty="0">
                <a:solidFill>
                  <a:srgbClr val="0B3D66"/>
                </a:solidFill>
                <a:latin typeface="Calibri"/>
              </a:rPr>
              <a:t>,</a:t>
            </a:r>
            <a:r>
              <a:rPr sz="2900" b="1" dirty="0">
                <a:solidFill>
                  <a:srgbClr val="0B3D66"/>
                </a:solidFill>
                <a:latin typeface="Calibri"/>
              </a:rPr>
              <a:t>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mon</a:t>
            </a:r>
            <a:r>
              <a:rPr sz="2900" b="1" dirty="0">
                <a:solidFill>
                  <a:srgbClr val="0B3D66"/>
                </a:solidFill>
                <a:latin typeface="Calibri"/>
              </a:rPr>
              <a:t> </a:t>
            </a:r>
            <a:r>
              <a:rPr sz="2900" b="1" dirty="0" err="1">
                <a:solidFill>
                  <a:srgbClr val="0B3D66"/>
                </a:solidFill>
                <a:latin typeface="Calibri"/>
              </a:rPr>
              <a:t>rôle</a:t>
            </a:r>
            <a:r>
              <a:rPr lang="fr-FR" sz="2900" b="1" dirty="0">
                <a:solidFill>
                  <a:srgbClr val="0B3D66"/>
                </a:solidFill>
                <a:latin typeface="Calibri"/>
              </a:rPr>
              <a:t> dans le projet</a:t>
            </a:r>
            <a:endParaRPr sz="2900" b="1" dirty="0">
              <a:solidFill>
                <a:srgbClr val="0B3D66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6292"/>
            <a:ext cx="110000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Contexte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métier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réel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vécu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alternance (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Prévifrance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Plateforme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entièrement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fr-FR" sz="2100" dirty="0">
                <a:solidFill>
                  <a:srgbClr val="404040"/>
                </a:solidFill>
                <a:latin typeface="Calibri"/>
              </a:rPr>
              <a:t>reconstruire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pour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ce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dossier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Fichier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INSEE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réel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·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référentiel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adhérents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synthétique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(Faker)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J'ai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vécu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production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l'ingestion</a:t>
            </a:r>
            <a:r>
              <a:rPr sz="2100" dirty="0">
                <a:solidFill>
                  <a:srgbClr val="404040"/>
                </a:solidFill>
                <a:latin typeface="Calibri"/>
              </a:rPr>
              <a:t> Eckert et </a:t>
            </a:r>
            <a:r>
              <a:rPr sz="2100" dirty="0" err="1">
                <a:solidFill>
                  <a:srgbClr val="404040"/>
                </a:solidFill>
                <a:latin typeface="Calibri"/>
              </a:rPr>
              <a:t>l'incident</a:t>
            </a:r>
            <a:endParaRPr sz="210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Analyse : besoins, contraintes, et les quatre trous à combler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Besoin : une donnée actionnable, fiable, tracée, au rythme mensuel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Contraintes : coût nul · délai &lt; 1 mois · forte volumétrie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Existant : SQL Server, SSRS, un traitement Eckert sous Airflow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Trous sans matériau : Spark, CI/CD, alerting, tests de sécurité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Des composants open source, locaux, portables vers le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Airflow · PostgreSQL · MinIO (S3) · Spark · GitHub Actions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Interfaces standard : S3, SQL, PySpark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Vendor lock-in traité par conception (bascule cloud sans réécriture)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Trois scénarios de coût, avec des hypothèses explicites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Local : logiciel gratuit, mais ~45 €/mois de temps humain (+ ~1 350 € de build)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Cloud Azure (ressources détaillées) : ~30 – 90 €/mois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SaaS : Snowflake ~40-80 € (usage) · Fabric ~180-305 € (capacité)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SaaS écarté (réel) : coût récurrent + souveraineté des données de santé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Un entrepôt en quatre couches, avec des droits testés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bronze (brut) · silver (typé) · gold (métier) · ops (journal)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Trois rôles : administration (DBA), écriture (pipeline), lecture (métier)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La lecture ne peut ni écrire ni lire le brut — TESTÉ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Le métier consomme une vue déjà priorisée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Trois méthodes de pipeline, dont le distribué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Choix ELT : le brut d'abord (fichiers → MinIO objet, lignes → Postgres), transfo ensuite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Fil de l'eau (SQL) : typage, nettoyage, déduplication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Orchestration (Airflow) : enchaîne et fiabilise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Distribué (Spark) : absorbe le volume du rapprochement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Orchestration : le DAG réel tourne vert sur le fichier INSEE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4 tâches : catalogue data.gouv → validation contrat → bronze → silver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Retries · SLA · callbacks d'alerte · exécution réelle sur le fichier INSEE</a:t>
            </a:r>
          </a:p>
        </p:txBody>
      </p:sp>
      <p:pic>
        <p:nvPicPr>
          <p:cNvPr id="5" name="Picture 4" descr="C4-2-2_airflow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00" y="2850000"/>
            <a:ext cx="9400000" cy="2764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Distribué : Spark détecte 4 162 contrats, 88 M€ en CERTAIN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Postgres stocke ; Spark lit/écrit via JDBC · INSEE partiel reconstruit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3 niveaux · 4 162 contrats · 88 M€ certain · Spark justifié par le cumul</a:t>
            </a:r>
          </a:p>
        </p:txBody>
      </p:sp>
      <p:pic>
        <p:nvPicPr>
          <p:cNvPr id="5" name="Picture 4" descr="C4-2-2_spark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00" y="2850000"/>
            <a:ext cx="9400000" cy="3896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CI/CD : cinq jobs verts et un déploiement réel sur registre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Qualité · tests · sécurité · validation DAG · déploiement (image sur GHCR)</a:t>
            </a:r>
          </a:p>
        </p:txBody>
      </p:sp>
      <p:pic>
        <p:nvPicPr>
          <p:cNvPr id="5" name="Picture 4" descr="C4-2-3_ci_run_v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00" y="2850000"/>
            <a:ext cx="9400000" cy="4249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Supervision : indicateurs, seuils, et une alerte réellement délivrée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 Statut · SLA · taux de rejet · journal ops · webhook reçu · escalade courriel</a:t>
            </a:r>
          </a:p>
        </p:txBody>
      </p:sp>
      <p:pic>
        <p:nvPicPr>
          <p:cNvPr id="5" name="Picture 4" descr="C4-3-1_airflow_event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00" y="2850000"/>
            <a:ext cx="9400000" cy="2984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Exploitation : un calendrier de MCO et une doc réutilisable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C4.3.2 · C4.3.3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Cycles mensuel → annuel · rotation des secrets et des certificats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Runbook des incidents courants (DAG, Spark, reset)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Un successeur reprend sans moi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Une recette automatisée : 19 tests, dont la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Tests fonctionnels, structurels ET de sécurité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Droits · non-exposition des secrets · scan de dépendances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Rejouée à chaque push : un filet permanent, pas un instantané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L'incident : la confiance aveugle dans les métadonnées déclarées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La V1 validait le fichier sur la taille et l'empreinte ANNONCÉES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Le producteur cesse de les publier → rejet systématique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Fichiers pourtant parfaitement exploitables · échec quotidien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Le correctif : valider le contenu, pas la promesse — rejeu vert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C4.4.2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Métadonnées → simple alerte ; le CONTENU devient la seule vérité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Fichier sain sans métadonnées : CONFORME · corrompu : bloqué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Test de non-régression : l'incident ne peut plus revenir en silence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Bilan : ce qui tourne, les limites assumées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Chaîne complète prouvée : ingestion → MinIO → Spark → gold → restitution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Sécurité testée · CI verte · incident rejoué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Limites : Postgres unique · Spark lancé manuellement · supervision applicative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À poursuivre : Spark via Airflow · supervision infra (Prometheus/Grafana + exporteurs)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A1 — Schéma de l'entrepôt : couches, tables, rôles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4 schémas · 6 tables · 2 rôles · 1 vue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Preuve : C4-2-1_schema_postgres.txt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A2 — Estimation des coûts détaillée (3 scénarios)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Hypothèses de volumétrie explicites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Comparatif local / Azure / SaaS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00" y="300000"/>
            <a:ext cx="92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B3D66"/>
                </a:solidFill>
                <a:latin typeface="Calibri"/>
              </a:rPr>
              <a:t>A3 — Workflow CI/CD complet (5 jobs)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0" y="180000"/>
            <a:ext cx="1950000" cy="5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650000"/>
            <a:ext cx="11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.github/workflows/ci.yml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404040"/>
                </a:solidFill>
                <a:latin typeface="Calibri"/>
              </a:rPr>
              <a:t>•  Qualité, tests, sécurité, DAG, déploiement GHCR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849</Words>
  <Application>Microsoft Office PowerPoint</Application>
  <PresentationFormat>Grand écran</PresentationFormat>
  <Paragraphs>100</Paragraphs>
  <Slides>20</Slides>
  <Notes>20</Notes>
  <HiddenSlides>3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JOVANOVIC Emmanuel</cp:lastModifiedBy>
  <cp:revision>2</cp:revision>
  <dcterms:created xsi:type="dcterms:W3CDTF">2013-01-27T09:14:16Z</dcterms:created>
  <dcterms:modified xsi:type="dcterms:W3CDTF">2026-09-12T12:59:32Z</dcterms:modified>
  <cp:category/>
</cp:coreProperties>
</file>